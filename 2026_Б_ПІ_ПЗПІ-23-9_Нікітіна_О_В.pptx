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3" r:id="rId9"/>
    <p:sldId id="271" r:id="rId10"/>
    <p:sldId id="264" r:id="rId11"/>
    <p:sldId id="273" r:id="rId12"/>
    <p:sldId id="274" r:id="rId13"/>
    <p:sldId id="275" r:id="rId14"/>
    <p:sldId id="272" r:id="rId15"/>
    <p:sldId id="265" r:id="rId16"/>
    <p:sldId id="279" r:id="rId17"/>
    <p:sldId id="278" r:id="rId18"/>
    <p:sldId id="281" r:id="rId19"/>
    <p:sldId id="282" r:id="rId20"/>
    <p:sldId id="283" r:id="rId21"/>
    <p:sldId id="277" r:id="rId22"/>
    <p:sldId id="280" r:id="rId23"/>
    <p:sldId id="276" r:id="rId24"/>
    <p:sldId id="284" r:id="rId25"/>
    <p:sldId id="267" r:id="rId26"/>
  </p:sldIdLst>
  <p:sldSz cx="9144000" cy="5143500" type="screen16x9"/>
  <p:notesSz cx="6858000" cy="9144000"/>
  <p:embeddedFontLst>
    <p:embeddedFont>
      <p:font typeface="Economica" panose="020B0604020202020204" charset="0"/>
      <p:regular r:id="rId28"/>
      <p:bold r:id="rId29"/>
      <p:italic r:id="rId30"/>
      <p:boldItalic r:id="rId31"/>
    </p:embeddedFont>
    <p:embeddedFont>
      <p:font typeface="Open Sans" panose="020B0604020202020204" charset="0"/>
      <p:regular r:id="rId32"/>
      <p:bold r:id="rId33"/>
      <p:italic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43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635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106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769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447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965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14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757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404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772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370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183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436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711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878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73252" y="2295931"/>
            <a:ext cx="3608229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2400" dirty="0" smtClean="0"/>
              <a:t>Програмна система для управління замовленнями товарів з підтримкою підписок на регулярні поставки</a:t>
            </a:r>
            <a:endParaRPr lang="uk-UA"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4665051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smtClean="0"/>
              <a:t>Нікітіна Олександра Володимирівна ПЗПІ-23-9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/>
              <a:t>Керівник: </a:t>
            </a:r>
            <a:r>
              <a:rPr lang="uk-UA" dirty="0" smtClean="0"/>
              <a:t>доц. кафедри ПІ Роксана </a:t>
            </a:r>
            <a:r>
              <a:rPr lang="uk-UA" dirty="0" err="1" smtClean="0"/>
              <a:t>Мельнікова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/>
              <a:t>01</a:t>
            </a:r>
            <a:r>
              <a:rPr lang="uk" dirty="0" smtClean="0"/>
              <a:t> </a:t>
            </a:r>
            <a:r>
              <a:rPr lang="uk" dirty="0"/>
              <a:t>червня </a:t>
            </a:r>
            <a:r>
              <a:rPr lang="uk" dirty="0" smtClean="0"/>
              <a:t>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 smtClean="0"/>
              <a:t>Актуальність</a:t>
            </a:r>
            <a:r>
              <a:rPr lang="uk" sz="3200" dirty="0" smtClean="0"/>
              <a:t> </a:t>
            </a:r>
            <a:r>
              <a:rPr lang="uk" sz="3200" dirty="0" smtClean="0"/>
              <a:t>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80655"/>
            <a:ext cx="8520600" cy="3498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200"/>
              </a:spcBef>
            </a:pPr>
            <a:r>
              <a:rPr lang="uk-UA" dirty="0" smtClean="0">
                <a:latin typeface="+mn-lt"/>
              </a:rPr>
              <a:t>Стрімкий темп життя вимагає </a:t>
            </a:r>
            <a:r>
              <a:rPr lang="ru-RU" dirty="0" err="1" smtClean="0">
                <a:latin typeface="+mn-lt"/>
              </a:rPr>
              <a:t>автоматизації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рутинних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покупок;</a:t>
            </a:r>
          </a:p>
          <a:p>
            <a:pPr marL="285750" indent="-285750">
              <a:spcBef>
                <a:spcPts val="1200"/>
              </a:spcBef>
            </a:pPr>
            <a:r>
              <a:rPr lang="ru-RU" dirty="0" err="1" smtClean="0">
                <a:latin typeface="+mn-lt"/>
              </a:rPr>
              <a:t>Існує</a:t>
            </a:r>
            <a:r>
              <a:rPr lang="ru-RU" dirty="0" smtClean="0">
                <a:latin typeface="+mn-lt"/>
              </a:rPr>
              <a:t> потреба у </a:t>
            </a:r>
            <a:r>
              <a:rPr lang="ru-RU" dirty="0" err="1" smtClean="0">
                <a:latin typeface="+mn-lt"/>
              </a:rPr>
              <a:t>безшовному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поєднанні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разових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замовлень</a:t>
            </a:r>
            <a:r>
              <a:rPr lang="ru-RU" dirty="0" smtClean="0">
                <a:latin typeface="+mn-lt"/>
              </a:rPr>
              <a:t> та </a:t>
            </a:r>
            <a:r>
              <a:rPr lang="ru-RU" dirty="0" err="1" smtClean="0">
                <a:latin typeface="+mn-lt"/>
              </a:rPr>
              <a:t>регулярних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підписок</a:t>
            </a:r>
            <a:r>
              <a:rPr lang="ru-RU" dirty="0" smtClean="0">
                <a:latin typeface="+mn-lt"/>
              </a:rPr>
              <a:t>;</a:t>
            </a: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Bef>
                <a:spcPts val="1200"/>
              </a:spcBef>
            </a:pPr>
            <a:r>
              <a:rPr lang="en-US" dirty="0" err="1">
                <a:latin typeface="+mn-lt"/>
              </a:rPr>
              <a:t>H</a:t>
            </a:r>
            <a:r>
              <a:rPr lang="ru-RU" dirty="0" err="1" smtClean="0">
                <a:latin typeface="+mn-lt"/>
              </a:rPr>
              <a:t>еобхідність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цифровізації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внутрішньої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логістики</a:t>
            </a:r>
            <a:r>
              <a:rPr lang="ru-RU" dirty="0">
                <a:latin typeface="+mn-lt"/>
              </a:rPr>
              <a:t> для </a:t>
            </a:r>
            <a:r>
              <a:rPr lang="ru-RU" dirty="0" smtClean="0">
                <a:latin typeface="+mn-lt"/>
              </a:rPr>
              <a:t>персоналу.</a:t>
            </a:r>
            <a:endParaRPr lang="ru-RU" dirty="0" smtClean="0">
              <a:solidFill>
                <a:schemeClr val="tx1"/>
              </a:solidFill>
              <a:latin typeface="+mn-lt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 smtClean="0">
                <a:latin typeface="+mn-lt"/>
              </a:rPr>
              <a:t>Саме тому розробка комплексної екосистеми, що поєднує гнучкі підписки для покупців та зручний мобільний додаток для персоналу, є надзвичайно актуальним завданням.</a:t>
            </a:r>
            <a:endParaRPr lang="uk-UA" dirty="0">
              <a:latin typeface="+mn-lt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endParaRPr lang="uk-UA" dirty="0">
              <a:latin typeface="+mn-lt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11701" y="1447800"/>
            <a:ext cx="2680882" cy="25146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33403" y="1773382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err="1" smtClean="0"/>
              <a:t>Проєктування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33404" y="2265218"/>
            <a:ext cx="2251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надійної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поєднує</a:t>
            </a:r>
            <a:r>
              <a:rPr lang="ru-RU" dirty="0"/>
              <a:t> </a:t>
            </a:r>
            <a:r>
              <a:rPr lang="en-US" dirty="0"/>
              <a:t>B2C-</a:t>
            </a:r>
            <a:r>
              <a:rPr lang="ru-RU" dirty="0" err="1"/>
              <a:t>торгівлю</a:t>
            </a:r>
            <a:r>
              <a:rPr lang="ru-RU" dirty="0"/>
              <a:t> та </a:t>
            </a:r>
            <a:r>
              <a:rPr lang="ru-RU" dirty="0" err="1"/>
              <a:t>складську</a:t>
            </a:r>
            <a:r>
              <a:rPr lang="ru-RU" dirty="0"/>
              <a:t> </a:t>
            </a:r>
            <a:r>
              <a:rPr lang="ru-RU" dirty="0" err="1"/>
              <a:t>логістику</a:t>
            </a:r>
            <a:r>
              <a:rPr lang="ru-RU" dirty="0"/>
              <a:t>.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214285" y="1447800"/>
            <a:ext cx="2680882" cy="25146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3435987" y="1773382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smtClean="0"/>
              <a:t>Реалізація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3435988" y="2265218"/>
            <a:ext cx="2251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механізмів</a:t>
            </a:r>
            <a:r>
              <a:rPr lang="ru-RU" dirty="0"/>
              <a:t> </a:t>
            </a:r>
            <a:r>
              <a:rPr lang="ru-RU" dirty="0" err="1"/>
              <a:t>автоматичної</a:t>
            </a:r>
            <a:r>
              <a:rPr lang="ru-RU" dirty="0"/>
              <a:t> </a:t>
            </a:r>
            <a:r>
              <a:rPr lang="ru-RU" dirty="0" err="1"/>
              <a:t>генерації</a:t>
            </a:r>
            <a:r>
              <a:rPr lang="ru-RU" dirty="0"/>
              <a:t> </a:t>
            </a:r>
            <a:r>
              <a:rPr lang="ru-RU" dirty="0" err="1"/>
              <a:t>підписок</a:t>
            </a:r>
            <a:r>
              <a:rPr lang="ru-RU" dirty="0"/>
              <a:t> та </a:t>
            </a:r>
            <a:r>
              <a:rPr lang="ru-RU" dirty="0" err="1"/>
              <a:t>гібридного</a:t>
            </a:r>
            <a:r>
              <a:rPr lang="ru-RU" dirty="0"/>
              <a:t> </a:t>
            </a:r>
            <a:r>
              <a:rPr lang="ru-RU" dirty="0" err="1"/>
              <a:t>кошика</a:t>
            </a:r>
            <a:r>
              <a:rPr lang="ru-RU" dirty="0"/>
              <a:t> (</a:t>
            </a:r>
            <a:r>
              <a:rPr lang="en-US" dirty="0"/>
              <a:t>One-time add-ons).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6116869" y="1447800"/>
            <a:ext cx="2680882" cy="25146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6338571" y="1773382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smtClean="0"/>
              <a:t>Взаємодія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6338572" y="2265218"/>
            <a:ext cx="2251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єдиного</a:t>
            </a:r>
            <a:r>
              <a:rPr lang="ru-RU" dirty="0"/>
              <a:t> </a:t>
            </a:r>
            <a:r>
              <a:rPr lang="ru-RU" dirty="0" err="1"/>
              <a:t>інформаційного</a:t>
            </a:r>
            <a:r>
              <a:rPr lang="ru-RU" dirty="0"/>
              <a:t> простору для </a:t>
            </a:r>
            <a:r>
              <a:rPr lang="ru-RU" dirty="0" err="1"/>
              <a:t>Клієнта</a:t>
            </a:r>
            <a:r>
              <a:rPr lang="ru-RU" dirty="0"/>
              <a:t>, </a:t>
            </a:r>
            <a:r>
              <a:rPr lang="ru-RU" dirty="0" err="1"/>
              <a:t>Працівника</a:t>
            </a:r>
            <a:r>
              <a:rPr lang="ru-RU" dirty="0"/>
              <a:t> складу та </a:t>
            </a:r>
            <a:r>
              <a:rPr lang="ru-RU" dirty="0" err="1"/>
              <a:t>Кур’єра</a:t>
            </a:r>
            <a:r>
              <a:rPr lang="ru-RU" dirty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58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879764"/>
            <a:ext cx="3775392" cy="3699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 err="1">
                <a:latin typeface="+mn-lt"/>
              </a:rPr>
              <a:t>Порівнюючи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розглянуті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групи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аналогів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можна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зробити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висновок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кожна</a:t>
            </a:r>
            <a:r>
              <a:rPr lang="ru-RU" dirty="0">
                <a:latin typeface="+mn-lt"/>
              </a:rPr>
              <a:t> з них </a:t>
            </a:r>
            <a:r>
              <a:rPr lang="ru-RU" dirty="0" err="1">
                <a:latin typeface="+mn-lt"/>
              </a:rPr>
              <a:t>вирішує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частину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глобальної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задачі</a:t>
            </a:r>
            <a:r>
              <a:rPr lang="ru-RU" dirty="0">
                <a:latin typeface="+mn-lt"/>
              </a:rPr>
              <a:t>.</a:t>
            </a:r>
          </a:p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 err="1">
                <a:latin typeface="+mn-lt"/>
              </a:rPr>
              <a:t>Локальні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сервіси</a:t>
            </a:r>
            <a:r>
              <a:rPr lang="ru-RU" dirty="0">
                <a:latin typeface="+mn-lt"/>
              </a:rPr>
              <a:t> (</a:t>
            </a:r>
            <a:r>
              <a:rPr lang="en-US" dirty="0">
                <a:latin typeface="+mn-lt"/>
              </a:rPr>
              <a:t>Zakaz.ua, </a:t>
            </a:r>
            <a:r>
              <a:rPr lang="ru-RU" dirty="0" err="1">
                <a:latin typeface="+mn-lt"/>
              </a:rPr>
              <a:t>Сільпо</a:t>
            </a:r>
            <a:r>
              <a:rPr lang="ru-RU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Glovo</a:t>
            </a:r>
            <a:r>
              <a:rPr lang="en-US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мають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чудову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логістику</a:t>
            </a:r>
            <a:r>
              <a:rPr lang="ru-RU" dirty="0">
                <a:latin typeface="+mn-lt"/>
              </a:rPr>
              <a:t> та систему ролей, але </a:t>
            </a:r>
            <a:r>
              <a:rPr lang="ru-RU" dirty="0" err="1">
                <a:latin typeface="+mn-lt"/>
              </a:rPr>
              <a:t>повністю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ігнорують</a:t>
            </a:r>
            <a:r>
              <a:rPr lang="ru-RU" dirty="0">
                <a:latin typeface="+mn-lt"/>
              </a:rPr>
              <a:t> потребу </a:t>
            </a:r>
            <a:r>
              <a:rPr lang="ru-RU" dirty="0" err="1">
                <a:latin typeface="+mn-lt"/>
              </a:rPr>
              <a:t>клієнта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автоматизації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рутинних</a:t>
            </a:r>
            <a:r>
              <a:rPr lang="ru-RU" dirty="0">
                <a:latin typeface="+mn-lt"/>
              </a:rPr>
              <a:t> покупок через </a:t>
            </a:r>
            <a:r>
              <a:rPr lang="ru-RU" dirty="0" err="1">
                <a:latin typeface="+mn-lt"/>
              </a:rPr>
              <a:t>фонові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підписки</a:t>
            </a:r>
            <a:r>
              <a:rPr lang="ru-RU" dirty="0">
                <a:latin typeface="+mn-lt"/>
              </a:rPr>
              <a:t>. З </a:t>
            </a:r>
            <a:r>
              <a:rPr lang="ru-RU" dirty="0" err="1">
                <a:latin typeface="+mn-lt"/>
              </a:rPr>
              <a:t>іншого</a:t>
            </a:r>
            <a:r>
              <a:rPr lang="ru-RU" dirty="0">
                <a:latin typeface="+mn-lt"/>
              </a:rPr>
              <a:t> боку, </a:t>
            </a:r>
            <a:r>
              <a:rPr lang="ru-RU" dirty="0" err="1">
                <a:latin typeface="+mn-lt"/>
              </a:rPr>
              <a:t>сервіси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підписок</a:t>
            </a:r>
            <a:r>
              <a:rPr lang="ru-RU" dirty="0">
                <a:latin typeface="+mn-lt"/>
              </a:rPr>
              <a:t> (</a:t>
            </a:r>
            <a:r>
              <a:rPr lang="en-US" dirty="0">
                <a:latin typeface="+mn-lt"/>
              </a:rPr>
              <a:t>Amazon, HelloFresh) </a:t>
            </a:r>
            <a:r>
              <a:rPr lang="ru-RU" dirty="0">
                <a:latin typeface="+mn-lt"/>
              </a:rPr>
              <a:t>не </a:t>
            </a:r>
            <a:r>
              <a:rPr lang="ru-RU" dirty="0" err="1">
                <a:latin typeface="+mn-lt"/>
              </a:rPr>
              <a:t>дають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можливості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гнучко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поєднувати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регулярні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постачання</a:t>
            </a:r>
            <a:r>
              <a:rPr lang="ru-RU" dirty="0">
                <a:latin typeface="+mn-lt"/>
              </a:rPr>
              <a:t> з широким </a:t>
            </a:r>
            <a:r>
              <a:rPr lang="ru-RU" dirty="0" err="1">
                <a:latin typeface="+mn-lt"/>
              </a:rPr>
              <a:t>асортиментом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одноразових</a:t>
            </a:r>
            <a:r>
              <a:rPr lang="ru-RU" dirty="0">
                <a:latin typeface="+mn-lt"/>
              </a:rPr>
              <a:t> покупок. </a:t>
            </a:r>
            <a:r>
              <a:rPr lang="ru-RU" dirty="0" err="1">
                <a:latin typeface="+mn-lt"/>
              </a:rPr>
              <a:t>Спеціалізовані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платформи</a:t>
            </a:r>
            <a:r>
              <a:rPr lang="ru-RU" dirty="0">
                <a:latin typeface="+mn-lt"/>
              </a:rPr>
              <a:t> (</a:t>
            </a:r>
            <a:r>
              <a:rPr lang="en-US" dirty="0">
                <a:latin typeface="+mn-lt"/>
              </a:rPr>
              <a:t>Recharge) </a:t>
            </a:r>
            <a:r>
              <a:rPr lang="ru-RU" dirty="0" err="1">
                <a:latin typeface="+mn-lt"/>
              </a:rPr>
              <a:t>вирішують</a:t>
            </a:r>
            <a:r>
              <a:rPr lang="ru-RU" dirty="0">
                <a:latin typeface="+mn-lt"/>
              </a:rPr>
              <a:t> проблему </a:t>
            </a:r>
            <a:r>
              <a:rPr lang="ru-RU" dirty="0" err="1">
                <a:latin typeface="+mn-lt"/>
              </a:rPr>
              <a:t>гібридних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замовлень</a:t>
            </a:r>
            <a:r>
              <a:rPr lang="ru-RU" dirty="0">
                <a:latin typeface="+mn-lt"/>
              </a:rPr>
              <a:t>, але </a:t>
            </a:r>
            <a:r>
              <a:rPr lang="ru-RU" dirty="0" err="1">
                <a:latin typeface="+mn-lt"/>
              </a:rPr>
              <a:t>залишають</a:t>
            </a:r>
            <a:r>
              <a:rPr lang="ru-RU" dirty="0">
                <a:latin typeface="+mn-lt"/>
              </a:rPr>
              <a:t> поза </a:t>
            </a:r>
            <a:r>
              <a:rPr lang="ru-RU" dirty="0" err="1">
                <a:latin typeface="+mn-lt"/>
              </a:rPr>
              <a:t>увагою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логістичну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частину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системи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419328"/>
              </p:ext>
            </p:extLst>
          </p:nvPr>
        </p:nvGraphicFramePr>
        <p:xfrm>
          <a:off x="4129865" y="879764"/>
          <a:ext cx="4648375" cy="40343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3971">
                  <a:extLst>
                    <a:ext uri="{9D8B030D-6E8A-4147-A177-3AD203B41FA5}">
                      <a16:colId xmlns:a16="http://schemas.microsoft.com/office/drawing/2014/main" val="1412877229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460500907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1461100611"/>
                    </a:ext>
                  </a:extLst>
                </a:gridCol>
                <a:gridCol w="766961">
                  <a:extLst>
                    <a:ext uri="{9D8B030D-6E8A-4147-A177-3AD203B41FA5}">
                      <a16:colId xmlns:a16="http://schemas.microsoft.com/office/drawing/2014/main" val="317401398"/>
                    </a:ext>
                  </a:extLst>
                </a:gridCol>
                <a:gridCol w="1118643">
                  <a:extLst>
                    <a:ext uri="{9D8B030D-6E8A-4147-A177-3AD203B41FA5}">
                      <a16:colId xmlns:a16="http://schemas.microsoft.com/office/drawing/2014/main" val="1733403653"/>
                    </a:ext>
                  </a:extLst>
                </a:gridCol>
              </a:tblGrid>
              <a:tr h="10756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 dirty="0">
                          <a:effectLst/>
                        </a:rPr>
                        <a:t>Назва системи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 dirty="0" err="1">
                          <a:effectLst/>
                        </a:rPr>
                        <a:t>Багаторольова</a:t>
                      </a:r>
                      <a:r>
                        <a:rPr lang="uk-UA" sz="900" dirty="0">
                          <a:effectLst/>
                        </a:rPr>
                        <a:t> логістика (Працівник / Кур’єр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Автоматична генерація підписки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Гібридний кошик (підписка + разові товари)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B2B Масштабованість (Multi-tenan</a:t>
                      </a:r>
                      <a:r>
                        <a:rPr lang="en-US" sz="900">
                          <a:effectLst/>
                        </a:rPr>
                        <a:t>t)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3296753236"/>
                  </a:ext>
                </a:extLst>
              </a:tr>
              <a:tr h="4217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Zakaz.ua / Сільпо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ru-RU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ru-RU" sz="900">
                          <a:effectLst/>
                        </a:rPr>
                        <a:t>Н</a:t>
                      </a:r>
                      <a:r>
                        <a:rPr lang="uk-UA" sz="900">
                          <a:effectLst/>
                        </a:rPr>
                        <a:t>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1264218115"/>
                  </a:ext>
                </a:extLst>
              </a:tr>
              <a:tr h="6359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Glovo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 (лише на доставку)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3398623578"/>
                  </a:ext>
                </a:extLst>
              </a:tr>
              <a:tr h="4217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Amazon S&amp;S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Частково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 (закрита екосистема)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1038854755"/>
                  </a:ext>
                </a:extLst>
              </a:tr>
              <a:tr h="4217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HelloFresh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 (закрита модель)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4026890316"/>
                  </a:ext>
                </a:extLst>
              </a:tr>
              <a:tr h="4217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Recharge Payments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Ні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3748472960"/>
                  </a:ext>
                </a:extLst>
              </a:tr>
              <a:tr h="6359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 dirty="0">
                          <a:effectLst/>
                        </a:rPr>
                        <a:t>Розроблювана система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>
                          <a:effectLst/>
                        </a:rPr>
                        <a:t>Так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52800" algn="l"/>
                        </a:tabLst>
                      </a:pPr>
                      <a:r>
                        <a:rPr lang="uk-UA" sz="900" dirty="0">
                          <a:effectLst/>
                        </a:rPr>
                        <a:t>Так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282" marR="42282" marT="0" marB="0" anchor="ctr"/>
                </a:tc>
                <a:extLst>
                  <a:ext uri="{0D108BD9-81ED-4DB2-BD59-A6C34878D82A}">
                    <a16:rowId xmlns:a16="http://schemas.microsoft.com/office/drawing/2014/main" val="123585474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</a:t>
            </a:r>
            <a:r>
              <a:rPr lang="uk" sz="3200" dirty="0" smtClean="0"/>
              <a:t>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 smtClean="0">
                <a:latin typeface="+mn-lt"/>
              </a:rPr>
              <a:t>Завдання полягало у створенні системи з підтримкою «гібридного кошика», що дозволяє користувачеві одночасно здійснювати разові покупки та налаштовувати графік регулярних доставок. 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 smtClean="0">
                <a:latin typeface="+mn-lt"/>
              </a:rPr>
              <a:t>Очікуваним результатом була розробка програмного комплексу, який за допомогою планувальника завдань автоматично формує замовлення у фоновому режимі, а також забезпечує персонал інтуїтивно зрозумілим інтерфейсом для контролю та зміни статусів підготовки і доставки товарів.</a:t>
            </a:r>
            <a:endParaRPr lang="uk-UA" dirty="0">
              <a:latin typeface="+mn-lt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906871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реалізації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проєкту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було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обрано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сучасний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надійний</a:t>
            </a:r>
            <a:r>
              <a:rPr lang="ru-RU" dirty="0">
                <a:latin typeface="+mn-lt"/>
              </a:rPr>
              <a:t> стек </a:t>
            </a:r>
            <a:r>
              <a:rPr lang="ru-RU" dirty="0" err="1" smtClean="0">
                <a:latin typeface="+mn-lt"/>
              </a:rPr>
              <a:t>технологій</a:t>
            </a:r>
            <a:r>
              <a:rPr lang="ru-RU" dirty="0" smtClean="0">
                <a:latin typeface="+mn-lt"/>
              </a:rPr>
              <a:t>:</a:t>
            </a:r>
            <a:endParaRPr dirty="0">
              <a:latin typeface="+mn-lt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11701" y="1717964"/>
            <a:ext cx="2680882" cy="25146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33404" y="1950527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Backend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33405" y="2412878"/>
            <a:ext cx="22513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</a:t>
            </a:r>
            <a:r>
              <a:rPr lang="ru-RU" dirty="0" err="1" smtClean="0"/>
              <a:t>латформа</a:t>
            </a:r>
            <a:r>
              <a:rPr lang="ru-RU" dirty="0" smtClean="0"/>
              <a:t> </a:t>
            </a:r>
            <a:r>
              <a:rPr lang="en-US" dirty="0"/>
              <a:t>Node.js </a:t>
            </a:r>
            <a:r>
              <a:rPr lang="ru-RU" dirty="0"/>
              <a:t>з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ru-RU" dirty="0" err="1"/>
              <a:t>фреймворку</a:t>
            </a:r>
            <a:r>
              <a:rPr lang="ru-RU" dirty="0"/>
              <a:t> </a:t>
            </a:r>
            <a:r>
              <a:rPr lang="en-US" dirty="0"/>
              <a:t>Express.js </a:t>
            </a:r>
            <a:r>
              <a:rPr lang="ru-RU" dirty="0"/>
              <a:t>та </a:t>
            </a:r>
            <a:r>
              <a:rPr lang="ru-RU" dirty="0" err="1"/>
              <a:t>інструментарію</a:t>
            </a:r>
            <a:r>
              <a:rPr lang="ru-RU" dirty="0"/>
              <a:t> </a:t>
            </a:r>
            <a:r>
              <a:rPr lang="en-US" dirty="0" err="1"/>
              <a:t>Prisma</a:t>
            </a:r>
            <a:r>
              <a:rPr lang="en-US" dirty="0"/>
              <a:t> ORM </a:t>
            </a:r>
            <a:r>
              <a:rPr lang="ru-RU" dirty="0"/>
              <a:t>для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реляційною</a:t>
            </a:r>
            <a:r>
              <a:rPr lang="ru-RU" dirty="0"/>
              <a:t> базою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en-US" dirty="0" smtClean="0"/>
              <a:t>PostgreSQL 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214285" y="1717964"/>
            <a:ext cx="2680882" cy="149629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429044" y="1942007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Web Client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29045" y="2412878"/>
            <a:ext cx="22513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Б</a:t>
            </a:r>
            <a:r>
              <a:rPr lang="ru-RU" dirty="0" err="1" smtClean="0"/>
              <a:t>ібліотека</a:t>
            </a:r>
            <a:r>
              <a:rPr lang="ru-RU" dirty="0" smtClean="0"/>
              <a:t> </a:t>
            </a:r>
            <a:r>
              <a:rPr lang="en-US" dirty="0"/>
              <a:t>React </a:t>
            </a:r>
            <a:r>
              <a:rPr lang="ru-RU" dirty="0" smtClean="0"/>
              <a:t>+ </a:t>
            </a:r>
            <a:r>
              <a:rPr lang="en-US" dirty="0" smtClean="0"/>
              <a:t>Tailwind </a:t>
            </a:r>
            <a:r>
              <a:rPr lang="en-US" dirty="0"/>
              <a:t>CSS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116869" y="1717964"/>
            <a:ext cx="2680882" cy="149629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338571" y="1950527"/>
            <a:ext cx="225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Mobile App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338572" y="2412470"/>
            <a:ext cx="2251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Мова</a:t>
            </a:r>
            <a:r>
              <a:rPr lang="ru-RU" dirty="0" smtClean="0"/>
              <a:t> </a:t>
            </a:r>
            <a:r>
              <a:rPr lang="en-US" dirty="0" err="1" smtClean="0"/>
              <a:t>Kotlin</a:t>
            </a:r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214284" y="3315794"/>
            <a:ext cx="5563956" cy="94507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360377" y="3424444"/>
            <a:ext cx="52717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Середовищем розробки </a:t>
            </a:r>
            <a:r>
              <a:rPr lang="uk-UA" dirty="0" smtClean="0"/>
              <a:t>виступають </a:t>
            </a:r>
            <a:r>
              <a:rPr lang="uk-UA" dirty="0" err="1"/>
              <a:t>Visual</a:t>
            </a:r>
            <a:r>
              <a:rPr lang="uk-UA" dirty="0"/>
              <a:t> </a:t>
            </a:r>
            <a:r>
              <a:rPr lang="uk-UA" dirty="0" err="1"/>
              <a:t>Studio</a:t>
            </a:r>
            <a:r>
              <a:rPr lang="uk-UA" dirty="0"/>
              <a:t> </a:t>
            </a:r>
            <a:r>
              <a:rPr lang="uk-UA" dirty="0" err="1" smtClean="0"/>
              <a:t>Code</a:t>
            </a:r>
            <a:r>
              <a:rPr lang="uk-UA" dirty="0" smtClean="0"/>
              <a:t> та </a:t>
            </a:r>
            <a:r>
              <a:rPr lang="en-US" dirty="0"/>
              <a:t>Android </a:t>
            </a:r>
            <a:r>
              <a:rPr lang="en-US" dirty="0" smtClean="0"/>
              <a:t>Studio</a:t>
            </a:r>
            <a:r>
              <a:rPr lang="uk-UA" dirty="0" smtClean="0"/>
              <a:t>, </a:t>
            </a:r>
            <a:r>
              <a:rPr lang="uk-UA" dirty="0" err="1" smtClean="0"/>
              <a:t>Docker</a:t>
            </a:r>
            <a:r>
              <a:rPr lang="uk-UA" dirty="0" smtClean="0"/>
              <a:t> використовується </a:t>
            </a:r>
            <a:r>
              <a:rPr lang="uk-UA" dirty="0"/>
              <a:t>для локального </a:t>
            </a:r>
            <a:r>
              <a:rPr lang="uk-UA" dirty="0" smtClean="0"/>
              <a:t>розгортання БД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0"/>
            <a:ext cx="8520600" cy="12363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94573"/>
            <a:ext cx="6184274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latin typeface="+mn-lt"/>
              </a:rPr>
              <a:t>Для реалізації системи обрано клієнт-серверну архітектуру, організовану за </a:t>
            </a:r>
            <a:r>
              <a:rPr lang="uk-UA" dirty="0" err="1">
                <a:latin typeface="+mn-lt"/>
              </a:rPr>
              <a:t>трирівневою</a:t>
            </a:r>
            <a:r>
              <a:rPr lang="uk-UA" dirty="0">
                <a:latin typeface="+mn-lt"/>
              </a:rPr>
              <a:t> моделлю</a:t>
            </a:r>
            <a:r>
              <a:rPr lang="uk-UA" dirty="0" smtClean="0">
                <a:latin typeface="+mn-lt"/>
              </a:rPr>
              <a:t>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ru-RU" dirty="0" err="1">
                <a:latin typeface="+mn-lt"/>
              </a:rPr>
              <a:t>Клієнтський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рівень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включає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вебзастосунок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мобільний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додаток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взаємодіють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із</a:t>
            </a:r>
            <a:r>
              <a:rPr lang="ru-RU" dirty="0">
                <a:latin typeface="+mn-lt"/>
              </a:rPr>
              <a:t> сервером через </a:t>
            </a:r>
            <a:r>
              <a:rPr lang="en-US" dirty="0">
                <a:latin typeface="+mn-lt"/>
              </a:rPr>
              <a:t>REST API </a:t>
            </a:r>
            <a:r>
              <a:rPr lang="ru-RU" dirty="0">
                <a:latin typeface="+mn-lt"/>
              </a:rPr>
              <a:t>за протоколом </a:t>
            </a:r>
            <a:r>
              <a:rPr lang="en-US" dirty="0">
                <a:latin typeface="+mn-lt"/>
              </a:rPr>
              <a:t>HTTPS </a:t>
            </a:r>
            <a:r>
              <a:rPr lang="ru-RU" dirty="0">
                <a:latin typeface="+mn-lt"/>
              </a:rPr>
              <a:t>у </a:t>
            </a:r>
            <a:r>
              <a:rPr lang="ru-RU" dirty="0" err="1">
                <a:latin typeface="+mn-lt"/>
              </a:rPr>
              <a:t>форматі</a:t>
            </a:r>
            <a:r>
              <a:rPr lang="ru-RU" dirty="0">
                <a:latin typeface="+mn-lt"/>
              </a:rPr>
              <a:t> </a:t>
            </a:r>
            <a:r>
              <a:rPr lang="en-US" dirty="0">
                <a:latin typeface="+mn-lt"/>
              </a:rPr>
              <a:t>JSON. </a:t>
            </a:r>
            <a:r>
              <a:rPr lang="ru-RU" dirty="0" err="1">
                <a:latin typeface="+mn-lt"/>
              </a:rPr>
              <a:t>Серверний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рівень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реалізовано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чітким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розподілом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відповідальності</a:t>
            </a:r>
            <a:r>
              <a:rPr lang="ru-RU" dirty="0">
                <a:latin typeface="+mn-lt"/>
              </a:rPr>
              <a:t>: </a:t>
            </a:r>
            <a:r>
              <a:rPr lang="ru-RU" dirty="0" err="1">
                <a:latin typeface="+mn-lt"/>
              </a:rPr>
              <a:t>запити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проходять</a:t>
            </a:r>
            <a:r>
              <a:rPr lang="ru-RU" dirty="0">
                <a:latin typeface="+mn-lt"/>
              </a:rPr>
              <a:t> через </a:t>
            </a:r>
            <a:r>
              <a:rPr lang="ru-RU" dirty="0" err="1">
                <a:latin typeface="+mn-lt"/>
              </a:rPr>
              <a:t>маршрутизатори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проміжні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обробники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валідації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контролери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після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обробляються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ізольованому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сервісному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шарі</a:t>
            </a:r>
            <a:r>
              <a:rPr lang="ru-RU" dirty="0">
                <a:latin typeface="+mn-lt"/>
              </a:rPr>
              <a:t>. </a:t>
            </a: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надійно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ізольовано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зберігаються</a:t>
            </a:r>
            <a:r>
              <a:rPr lang="ru-RU" dirty="0">
                <a:latin typeface="+mn-lt"/>
              </a:rPr>
              <a:t> у </a:t>
            </a:r>
            <a:r>
              <a:rPr lang="ru-RU" dirty="0" err="1">
                <a:latin typeface="+mn-lt"/>
              </a:rPr>
              <a:t>базі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завдяки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використанню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багатокористувацької</a:t>
            </a:r>
            <a:r>
              <a:rPr lang="ru-RU" dirty="0">
                <a:latin typeface="+mn-lt"/>
              </a:rPr>
              <a:t> (</a:t>
            </a:r>
            <a:r>
              <a:rPr lang="en-US" dirty="0">
                <a:latin typeface="+mn-lt"/>
              </a:rPr>
              <a:t>Multi-tenant) </a:t>
            </a:r>
            <a:r>
              <a:rPr lang="ru-RU" dirty="0" err="1">
                <a:latin typeface="+mn-lt"/>
              </a:rPr>
              <a:t>структури</a:t>
            </a:r>
            <a:r>
              <a:rPr lang="ru-RU" dirty="0">
                <a:latin typeface="+mn-lt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974" y="653948"/>
            <a:ext cx="2282266" cy="4287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2837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dirty="0"/>
              <a:t>UML діаграма прецедентів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266158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uk-UA" dirty="0">
                <a:latin typeface="+mn-lt"/>
              </a:rPr>
              <a:t>Діаграма прецедентів </a:t>
            </a:r>
            <a:r>
              <a:rPr lang="uk-UA" dirty="0" smtClean="0">
                <a:latin typeface="+mn-lt"/>
              </a:rPr>
              <a:t>відображає </a:t>
            </a:r>
            <a:r>
              <a:rPr lang="uk-UA" dirty="0">
                <a:latin typeface="+mn-lt"/>
              </a:rPr>
              <a:t>функціональні вимоги до системи у вигляді сценаріїв взаємодії акторів із програмним продуктом.</a:t>
            </a:r>
            <a:endParaRPr lang="ru-RU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310" y="828110"/>
            <a:ext cx="5832930" cy="4148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28" y="119868"/>
            <a:ext cx="5778493" cy="4821382"/>
          </a:xfrm>
          <a:prstGeom prst="rect">
            <a:avLst/>
          </a:prstGeom>
        </p:spPr>
      </p:pic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2837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ru-RU" sz="3200" dirty="0"/>
              <a:t>Структура </a:t>
            </a:r>
            <a:r>
              <a:rPr lang="ru-RU" sz="3200" dirty="0" err="1"/>
              <a:t>бази</a:t>
            </a:r>
            <a:r>
              <a:rPr lang="ru-RU" sz="3200" dirty="0"/>
              <a:t> </a:t>
            </a:r>
            <a:r>
              <a:rPr lang="ru-RU" sz="3200" dirty="0" err="1"/>
              <a:t>даних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7" name="Рисунок 6"/>
          <p:cNvPicPr/>
          <p:nvPr/>
        </p:nvPicPr>
        <p:blipFill rotWithShape="1">
          <a:blip r:embed="rId5"/>
          <a:srcRect r="50469"/>
          <a:stretch/>
        </p:blipFill>
        <p:spPr>
          <a:xfrm>
            <a:off x="575491" y="1225225"/>
            <a:ext cx="2071548" cy="167801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 rotWithShape="1">
          <a:blip r:embed="rId5"/>
          <a:srcRect l="49532" b="13779"/>
          <a:stretch/>
        </p:blipFill>
        <p:spPr>
          <a:xfrm>
            <a:off x="575489" y="2929350"/>
            <a:ext cx="2110735" cy="136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0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1108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" sz="3200" dirty="0" smtClean="0"/>
              <a:t>Приклад </a:t>
            </a:r>
            <a:r>
              <a:rPr lang="uk" sz="3200" dirty="0" smtClean="0"/>
              <a:t>реалізації: </a:t>
            </a:r>
            <a:r>
              <a:rPr lang="ru-RU" sz="3200" dirty="0"/>
              <a:t>Автоматична </a:t>
            </a:r>
            <a:r>
              <a:rPr lang="ru-RU" sz="3200" dirty="0" err="1"/>
              <a:t>генерація</a:t>
            </a:r>
            <a:r>
              <a:rPr lang="ru-RU" sz="3200" dirty="0"/>
              <a:t> </a:t>
            </a:r>
            <a:r>
              <a:rPr lang="ru-RU" sz="3200" dirty="0" err="1"/>
              <a:t>замовлень</a:t>
            </a:r>
            <a:r>
              <a:rPr lang="ru-RU" sz="3200" dirty="0"/>
              <a:t> за </a:t>
            </a:r>
            <a:r>
              <a:rPr lang="ru-RU" sz="3200" dirty="0" err="1" smtClean="0"/>
              <a:t>підпискою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08364"/>
            <a:ext cx="5381306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 smtClean="0">
                <a:latin typeface="+mn-lt"/>
              </a:rPr>
              <a:t>У </a:t>
            </a:r>
            <a:r>
              <a:rPr lang="ru-RU" sz="1400" dirty="0" err="1">
                <a:latin typeface="+mn-lt"/>
              </a:rPr>
              <a:t>системі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реалізовано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фоновий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сервіс</a:t>
            </a:r>
            <a:r>
              <a:rPr lang="ru-RU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CRON), </a:t>
            </a:r>
            <a:r>
              <a:rPr lang="ru-RU" sz="1400" dirty="0" err="1">
                <a:latin typeface="+mn-lt"/>
              </a:rPr>
              <a:t>який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періодично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перевіряє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активні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підписки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користувачів</a:t>
            </a:r>
            <a:r>
              <a:rPr lang="ru-RU" sz="1400" dirty="0">
                <a:latin typeface="+mn-lt"/>
              </a:rPr>
              <a:t>.</a:t>
            </a: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Алгоритм </a:t>
            </a:r>
            <a:r>
              <a:rPr lang="ru-RU" sz="1400" dirty="0" err="1">
                <a:latin typeface="+mn-lt"/>
              </a:rPr>
              <a:t>роботи</a:t>
            </a:r>
            <a:r>
              <a:rPr lang="ru-RU" sz="1400" dirty="0">
                <a:latin typeface="+mn-lt"/>
              </a:rPr>
              <a:t>:</a:t>
            </a:r>
            <a:br>
              <a:rPr lang="ru-RU" sz="1400" dirty="0">
                <a:latin typeface="+mn-lt"/>
              </a:rPr>
            </a:br>
            <a:r>
              <a:rPr lang="ru-RU" sz="1400" dirty="0">
                <a:latin typeface="+mn-lt"/>
              </a:rPr>
              <a:t>– </a:t>
            </a:r>
            <a:r>
              <a:rPr lang="ru-RU" sz="1400" dirty="0" err="1">
                <a:latin typeface="+mn-lt"/>
              </a:rPr>
              <a:t>вибір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підписок</a:t>
            </a:r>
            <a:r>
              <a:rPr lang="ru-RU" sz="1400" dirty="0">
                <a:latin typeface="+mn-lt"/>
              </a:rPr>
              <a:t>, для </a:t>
            </a:r>
            <a:r>
              <a:rPr lang="ru-RU" sz="1400" dirty="0" err="1">
                <a:latin typeface="+mn-lt"/>
              </a:rPr>
              <a:t>яких</a:t>
            </a:r>
            <a:r>
              <a:rPr lang="ru-RU" sz="1400" dirty="0">
                <a:latin typeface="+mn-lt"/>
              </a:rPr>
              <a:t> настав час </a:t>
            </a:r>
            <a:r>
              <a:rPr lang="ru-RU" sz="1400" dirty="0" err="1">
                <a:latin typeface="+mn-lt"/>
              </a:rPr>
              <a:t>виконання</a:t>
            </a:r>
            <a:r>
              <a:rPr lang="ru-RU" sz="1400" dirty="0">
                <a:latin typeface="+mn-lt"/>
              </a:rPr>
              <a:t/>
            </a:r>
            <a:br>
              <a:rPr lang="ru-RU" sz="1400" dirty="0">
                <a:latin typeface="+mn-lt"/>
              </a:rPr>
            </a:br>
            <a:r>
              <a:rPr lang="ru-RU" sz="1400" dirty="0">
                <a:latin typeface="+mn-lt"/>
              </a:rPr>
              <a:t>– </a:t>
            </a:r>
            <a:r>
              <a:rPr lang="ru-RU" sz="1400" dirty="0" err="1">
                <a:latin typeface="+mn-lt"/>
              </a:rPr>
              <a:t>об’єднання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основних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товарів</a:t>
            </a:r>
            <a:r>
              <a:rPr lang="ru-RU" sz="1400" dirty="0">
                <a:latin typeface="+mn-lt"/>
              </a:rPr>
              <a:t> та </a:t>
            </a:r>
            <a:r>
              <a:rPr lang="ru-RU" sz="1400" dirty="0" err="1">
                <a:latin typeface="+mn-lt"/>
              </a:rPr>
              <a:t>додаткових</a:t>
            </a:r>
            <a:r>
              <a:rPr lang="ru-RU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add-ons)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– </a:t>
            </a:r>
            <a:r>
              <a:rPr lang="ru-RU" sz="1400" dirty="0" err="1">
                <a:latin typeface="+mn-lt"/>
              </a:rPr>
              <a:t>створення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замовлення</a:t>
            </a:r>
            <a:r>
              <a:rPr lang="ru-RU" sz="1400" dirty="0">
                <a:latin typeface="+mn-lt"/>
              </a:rPr>
              <a:t> через </a:t>
            </a:r>
            <a:r>
              <a:rPr lang="ru-RU" sz="1400" dirty="0" err="1">
                <a:latin typeface="+mn-lt"/>
              </a:rPr>
              <a:t>сервіс</a:t>
            </a:r>
            <a:r>
              <a:rPr lang="ru-RU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orderService</a:t>
            </a:r>
            <a:r>
              <a:rPr lang="en-US" sz="1400" dirty="0">
                <a:latin typeface="+mn-lt"/>
              </a:rPr>
              <a:t/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– </a:t>
            </a:r>
            <a:r>
              <a:rPr lang="ru-RU" sz="1400" dirty="0" err="1">
                <a:latin typeface="+mn-lt"/>
              </a:rPr>
              <a:t>оновлення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наступного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виконання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підписки</a:t>
            </a:r>
          </a:p>
          <a:p>
            <a:pPr marL="114300" indent="0">
              <a:buNone/>
            </a:pPr>
            <a:endParaRPr lang="ru-RU" sz="1400" dirty="0" smtClean="0">
              <a:latin typeface="+mn-lt"/>
            </a:endParaRPr>
          </a:p>
          <a:p>
            <a:pPr marL="114300" indent="0">
              <a:buNone/>
            </a:pPr>
            <a:r>
              <a:rPr lang="ru-RU" sz="1400" dirty="0" err="1" smtClean="0">
                <a:latin typeface="+mn-lt"/>
              </a:rPr>
              <a:t>Важливою</a:t>
            </a:r>
            <a:r>
              <a:rPr lang="ru-RU" sz="1400" dirty="0" smtClean="0">
                <a:latin typeface="+mn-lt"/>
              </a:rPr>
              <a:t> </a:t>
            </a:r>
            <a:r>
              <a:rPr lang="uk-UA" sz="1400" dirty="0" smtClean="0">
                <a:latin typeface="+mn-lt"/>
              </a:rPr>
              <a:t>особливістю</a:t>
            </a:r>
            <a:r>
              <a:rPr lang="ru-RU" sz="1400" dirty="0" smtClean="0">
                <a:latin typeface="+mn-lt"/>
              </a:rPr>
              <a:t> є </a:t>
            </a:r>
            <a:r>
              <a:rPr lang="ru-RU" sz="1400" dirty="0" err="1" smtClean="0">
                <a:latin typeface="+mn-lt"/>
              </a:rPr>
              <a:t>використання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u="sng" dirty="0" err="1" smtClean="0">
                <a:latin typeface="+mn-lt"/>
              </a:rPr>
              <a:t>транзакції</a:t>
            </a:r>
            <a:r>
              <a:rPr lang="ru-RU" sz="1400" dirty="0" smtClean="0">
                <a:latin typeface="+mn-lt"/>
              </a:rPr>
              <a:t>, </a:t>
            </a:r>
            <a:r>
              <a:rPr lang="ru-RU" sz="1400" dirty="0" err="1" smtClean="0">
                <a:latin typeface="+mn-lt"/>
              </a:rPr>
              <a:t>що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гарантує</a:t>
            </a:r>
            <a:r>
              <a:rPr lang="ru-RU" sz="1400" dirty="0" smtClean="0">
                <a:latin typeface="+mn-lt"/>
              </a:rPr>
              <a:t>:</a:t>
            </a:r>
            <a:br>
              <a:rPr lang="ru-RU" sz="1400" dirty="0" smtClean="0">
                <a:latin typeface="+mn-lt"/>
              </a:rPr>
            </a:br>
            <a:r>
              <a:rPr lang="ru-RU" sz="1400" dirty="0" smtClean="0">
                <a:latin typeface="+mn-lt"/>
              </a:rPr>
              <a:t>– </a:t>
            </a:r>
            <a:r>
              <a:rPr lang="ru-RU" sz="1400" dirty="0" err="1" smtClean="0">
                <a:latin typeface="+mn-lt"/>
              </a:rPr>
              <a:t>цілісність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даних</a:t>
            </a:r>
            <a:r>
              <a:rPr lang="ru-RU" sz="1400" dirty="0" smtClean="0">
                <a:latin typeface="+mn-lt"/>
              </a:rPr>
              <a:t/>
            </a:r>
            <a:br>
              <a:rPr lang="ru-RU" sz="1400" dirty="0" smtClean="0">
                <a:latin typeface="+mn-lt"/>
              </a:rPr>
            </a:br>
            <a:r>
              <a:rPr lang="ru-RU" sz="1400" dirty="0" smtClean="0">
                <a:latin typeface="+mn-lt"/>
              </a:rPr>
              <a:t>– </a:t>
            </a:r>
            <a:r>
              <a:rPr lang="ru-RU" sz="1400" dirty="0" err="1" smtClean="0">
                <a:latin typeface="+mn-lt"/>
              </a:rPr>
              <a:t>узгодженість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створення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замовлення</a:t>
            </a:r>
            <a:r>
              <a:rPr lang="ru-RU" sz="1400" dirty="0" smtClean="0">
                <a:latin typeface="+mn-lt"/>
              </a:rPr>
              <a:t> та </a:t>
            </a:r>
            <a:r>
              <a:rPr lang="ru-RU" sz="1400" dirty="0" err="1" smtClean="0">
                <a:latin typeface="+mn-lt"/>
              </a:rPr>
              <a:t>оновлення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 smtClean="0">
                <a:latin typeface="+mn-lt"/>
              </a:rPr>
              <a:t>підписки</a:t>
            </a:r>
            <a:endParaRPr lang="ru-RU" sz="1400" dirty="0">
              <a:latin typeface="+mn-lt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 rotWithShape="1">
          <a:blip r:embed="rId4"/>
          <a:srcRect b="37208"/>
          <a:stretch/>
        </p:blipFill>
        <p:spPr>
          <a:xfrm>
            <a:off x="5254499" y="1498980"/>
            <a:ext cx="3735039" cy="2306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10875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uk" sz="3200" dirty="0" smtClean="0"/>
              <a:t>Приклад </a:t>
            </a:r>
            <a:r>
              <a:rPr lang="uk" sz="3200" dirty="0" smtClean="0"/>
              <a:t>реалізації: </a:t>
            </a:r>
            <a:r>
              <a:rPr lang="ru-RU" sz="3200" dirty="0"/>
              <a:t>Алгоритм </a:t>
            </a:r>
            <a:r>
              <a:rPr lang="ru-RU" sz="3200" dirty="0" err="1"/>
              <a:t>створення</a:t>
            </a:r>
            <a:r>
              <a:rPr lang="ru-RU" sz="3200" dirty="0"/>
              <a:t> </a:t>
            </a:r>
            <a:r>
              <a:rPr lang="ru-RU" sz="3200" dirty="0" err="1" smtClean="0"/>
              <a:t>замовлення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087582"/>
            <a:ext cx="4199771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1600" dirty="0" err="1" smtClean="0"/>
              <a:t>Бізнес-логіка</a:t>
            </a:r>
            <a:r>
              <a:rPr lang="ru-RU" sz="1600" dirty="0" smtClean="0"/>
              <a:t> </a:t>
            </a:r>
            <a:r>
              <a:rPr lang="ru-RU" sz="1600" dirty="0" err="1"/>
              <a:t>створення</a:t>
            </a:r>
            <a:r>
              <a:rPr lang="ru-RU" sz="1600" dirty="0"/>
              <a:t> </a:t>
            </a:r>
            <a:r>
              <a:rPr lang="ru-RU" sz="1600" dirty="0" err="1"/>
              <a:t>замовлення</a:t>
            </a:r>
            <a:r>
              <a:rPr lang="ru-RU" sz="1600" dirty="0"/>
              <a:t> </a:t>
            </a:r>
            <a:r>
              <a:rPr lang="ru-RU" sz="1600" dirty="0" err="1"/>
              <a:t>винесена</a:t>
            </a:r>
            <a:r>
              <a:rPr lang="ru-RU" sz="1600" dirty="0"/>
              <a:t> в </a:t>
            </a:r>
            <a:r>
              <a:rPr lang="ru-RU" sz="1600" dirty="0" err="1"/>
              <a:t>окремий</a:t>
            </a:r>
            <a:r>
              <a:rPr lang="ru-RU" sz="1600" dirty="0"/>
              <a:t> </a:t>
            </a:r>
            <a:r>
              <a:rPr lang="ru-RU" sz="1600" dirty="0" err="1"/>
              <a:t>сервіс</a:t>
            </a:r>
            <a:r>
              <a:rPr lang="ru-RU" sz="1600" dirty="0"/>
              <a:t> </a:t>
            </a:r>
            <a:r>
              <a:rPr lang="ru-RU" sz="1600" dirty="0" err="1"/>
              <a:t>відповідно</a:t>
            </a:r>
            <a:r>
              <a:rPr lang="ru-RU" sz="1600" dirty="0"/>
              <a:t> до </a:t>
            </a:r>
            <a:r>
              <a:rPr lang="ru-RU" sz="1600" dirty="0" err="1"/>
              <a:t>принципів</a:t>
            </a:r>
            <a:r>
              <a:rPr lang="ru-RU" sz="1600" dirty="0"/>
              <a:t> </a:t>
            </a:r>
            <a:r>
              <a:rPr lang="en-US" sz="1600" dirty="0"/>
              <a:t>Clean Architecture.</a:t>
            </a:r>
          </a:p>
          <a:p>
            <a:pPr marL="114300" indent="0">
              <a:buNone/>
            </a:pPr>
            <a:r>
              <a:rPr lang="ru-RU" sz="1600" dirty="0" err="1"/>
              <a:t>Основні</a:t>
            </a:r>
            <a:r>
              <a:rPr lang="ru-RU" sz="1600" dirty="0"/>
              <a:t> </a:t>
            </a:r>
            <a:r>
              <a:rPr lang="ru-RU" sz="1600" dirty="0" err="1" smtClean="0"/>
              <a:t>етапи</a:t>
            </a:r>
            <a:r>
              <a:rPr lang="ru-RU" sz="1600" dirty="0" smtClean="0"/>
              <a:t> </a:t>
            </a:r>
            <a:r>
              <a:rPr lang="ru-RU" sz="1600" dirty="0" err="1" smtClean="0"/>
              <a:t>зображені</a:t>
            </a:r>
            <a:r>
              <a:rPr lang="ru-RU" sz="1600" dirty="0" smtClean="0"/>
              <a:t> на рисунку</a:t>
            </a:r>
            <a:endParaRPr lang="ru-RU" sz="16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 rotWithShape="1">
          <a:blip r:embed="rId4"/>
          <a:srcRect t="25666"/>
          <a:stretch/>
        </p:blipFill>
        <p:spPr>
          <a:xfrm>
            <a:off x="4511471" y="561108"/>
            <a:ext cx="4320829" cy="438014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90" y="2401440"/>
            <a:ext cx="2937191" cy="185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9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2837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dirty="0"/>
              <a:t>UML діаграма станів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614223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-UA" dirty="0" smtClean="0">
                <a:latin typeface="+mn-lt"/>
              </a:rPr>
              <a:t>Діаграма </a:t>
            </a:r>
            <a:r>
              <a:rPr lang="ru-RU" dirty="0" err="1" smtClean="0">
                <a:latin typeface="+mn-lt"/>
              </a:rPr>
              <a:t>ілюструє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всі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етапи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проходить </a:t>
            </a:r>
            <a:r>
              <a:rPr lang="ru-RU" dirty="0" err="1">
                <a:latin typeface="+mn-lt"/>
              </a:rPr>
              <a:t>замовлення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моменту </a:t>
            </a:r>
            <a:r>
              <a:rPr lang="ru-RU" dirty="0" err="1">
                <a:latin typeface="+mn-lt"/>
              </a:rPr>
              <a:t>його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створення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клієнтом</a:t>
            </a:r>
            <a:r>
              <a:rPr lang="ru-RU" dirty="0">
                <a:latin typeface="+mn-lt"/>
              </a:rPr>
              <a:t> до остаточного </a:t>
            </a:r>
            <a:r>
              <a:rPr lang="ru-RU" dirty="0" err="1">
                <a:latin typeface="+mn-lt"/>
              </a:rPr>
              <a:t>отримання</a:t>
            </a:r>
            <a:r>
              <a:rPr lang="ru-RU" dirty="0">
                <a:latin typeface="+mn-lt"/>
              </a:rPr>
              <a:t> товару </a:t>
            </a:r>
            <a:endParaRPr dirty="0">
              <a:latin typeface="+mn-lt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124691"/>
            <a:ext cx="1884490" cy="491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4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1108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" sz="3200" dirty="0" smtClean="0"/>
              <a:t>Приклад </a:t>
            </a:r>
            <a:r>
              <a:rPr lang="uk" sz="3200" dirty="0" smtClean="0"/>
              <a:t>реалізації: </a:t>
            </a:r>
            <a:r>
              <a:rPr lang="ru-RU" sz="3200" dirty="0" err="1" smtClean="0"/>
              <a:t>Логіка</a:t>
            </a:r>
            <a:r>
              <a:rPr lang="ru-RU" sz="3200" dirty="0" smtClean="0"/>
              <a:t> </a:t>
            </a:r>
            <a:r>
              <a:rPr lang="ru-RU" sz="3200" dirty="0" err="1"/>
              <a:t>переходів</a:t>
            </a:r>
            <a:r>
              <a:rPr lang="ru-RU" sz="3200" dirty="0"/>
              <a:t> </a:t>
            </a:r>
            <a:r>
              <a:rPr lang="ru-RU" sz="3200" dirty="0" err="1"/>
              <a:t>станів</a:t>
            </a:r>
            <a:r>
              <a:rPr lang="ru-RU" sz="3200" dirty="0"/>
              <a:t> </a:t>
            </a:r>
            <a:r>
              <a:rPr lang="ru-RU" sz="3200" dirty="0" err="1"/>
              <a:t>замовлення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08364"/>
            <a:ext cx="846654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 smtClean="0">
                <a:latin typeface="+mn-lt"/>
                <a:cs typeface="Arial" panose="020B0604020202020204" pitchFamily="34" charset="0"/>
              </a:rPr>
              <a:t>Для контролю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життєвого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циклу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замовлення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використано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патерн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State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Machine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.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Логіка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реалізована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на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стороні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клієнта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(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мобільного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застосунку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).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Функція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повертає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об’єкт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Pair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(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напис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на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кнопці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та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наступний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статус для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відправки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на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бекенд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)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або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null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,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якщо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дій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для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цієї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ролі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+mn-lt"/>
                <a:cs typeface="Arial" panose="020B0604020202020204" pitchFamily="34" charset="0"/>
              </a:rPr>
              <a:t>більше</a:t>
            </a:r>
            <a:r>
              <a:rPr lang="ru-RU" sz="1400" dirty="0">
                <a:latin typeface="+mn-lt"/>
                <a:cs typeface="Arial" panose="020B0604020202020204" pitchFamily="34" charset="0"/>
              </a:rPr>
              <a:t> не </a:t>
            </a:r>
            <a:r>
              <a:rPr lang="ru-RU" sz="1400" dirty="0" err="1" smtClean="0">
                <a:latin typeface="+mn-lt"/>
                <a:cs typeface="Arial" panose="020B0604020202020204" pitchFamily="34" charset="0"/>
              </a:rPr>
              <a:t>передбачено</a:t>
            </a:r>
            <a:r>
              <a:rPr lang="ru-RU" sz="1400" dirty="0" smtClean="0">
                <a:latin typeface="+mn-lt"/>
                <a:cs typeface="Arial" panose="020B0604020202020204" pitchFamily="34" charset="0"/>
              </a:rPr>
              <a:t>.</a:t>
            </a:r>
            <a:endParaRPr lang="ru-RU" sz="14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4"/>
          <a:srcRect t="43235"/>
          <a:stretch/>
        </p:blipFill>
        <p:spPr>
          <a:xfrm>
            <a:off x="2136069" y="2072852"/>
            <a:ext cx="6120130" cy="274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9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2837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823856" y="1001867"/>
            <a:ext cx="4980469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uk-UA" dirty="0">
                <a:latin typeface="+mn-lt"/>
              </a:rPr>
              <a:t>Для розроблюваної програмної системи було обрано унікальну фірмову </a:t>
            </a:r>
            <a:r>
              <a:rPr lang="uk-UA" dirty="0" smtClean="0">
                <a:latin typeface="+mn-lt"/>
              </a:rPr>
              <a:t>палітру, що </a:t>
            </a:r>
            <a:r>
              <a:rPr lang="uk-UA" dirty="0">
                <a:latin typeface="+mn-lt"/>
              </a:rPr>
              <a:t>базується на поєднанні теплих відтінків жовтого </a:t>
            </a:r>
            <a:r>
              <a:rPr lang="uk-UA" dirty="0" smtClean="0">
                <a:latin typeface="+mn-lt"/>
              </a:rPr>
              <a:t>та </a:t>
            </a:r>
            <a:r>
              <a:rPr lang="uk-UA" dirty="0">
                <a:latin typeface="+mn-lt"/>
              </a:rPr>
              <a:t>помаранчевого </a:t>
            </a:r>
            <a:r>
              <a:rPr lang="uk-UA" dirty="0" smtClean="0">
                <a:latin typeface="+mn-lt"/>
              </a:rPr>
              <a:t>кольорів </a:t>
            </a:r>
            <a:r>
              <a:rPr lang="uk-UA" dirty="0">
                <a:latin typeface="+mn-lt"/>
              </a:rPr>
              <a:t>як базових акцентів, а також глибокого сіро-темного кольору </a:t>
            </a:r>
            <a:r>
              <a:rPr lang="uk-UA" dirty="0" smtClean="0">
                <a:latin typeface="+mn-lt"/>
              </a:rPr>
              <a:t>для </a:t>
            </a:r>
            <a:r>
              <a:rPr lang="uk-UA" dirty="0">
                <a:latin typeface="+mn-lt"/>
              </a:rPr>
              <a:t>текстових і структурних елементів та дуже світлого сіро-блакитного кольору </a:t>
            </a:r>
            <a:r>
              <a:rPr lang="uk-UA" dirty="0" smtClean="0">
                <a:latin typeface="+mn-lt"/>
              </a:rPr>
              <a:t>для </a:t>
            </a:r>
            <a:r>
              <a:rPr lang="uk-UA" dirty="0">
                <a:latin typeface="+mn-lt"/>
              </a:rPr>
              <a:t>фону сторінок</a:t>
            </a:r>
            <a:r>
              <a:rPr lang="uk-UA" dirty="0" smtClean="0">
                <a:latin typeface="+mn-lt"/>
              </a:rPr>
              <a:t>.</a:t>
            </a:r>
          </a:p>
          <a:p>
            <a:pPr marL="0" indent="0">
              <a:buNone/>
            </a:pPr>
            <a:endParaRPr lang="uk-UA" dirty="0" smtClean="0">
              <a:latin typeface="+mn-lt"/>
            </a:endParaRPr>
          </a:p>
          <a:p>
            <a:pPr marL="0" indent="0">
              <a:buNone/>
            </a:pPr>
            <a:r>
              <a:rPr lang="uk-UA" dirty="0" smtClean="0">
                <a:latin typeface="+mn-lt"/>
              </a:rPr>
              <a:t>Жовтий </a:t>
            </a:r>
            <a:r>
              <a:rPr lang="uk-UA" dirty="0">
                <a:latin typeface="+mn-lt"/>
              </a:rPr>
              <a:t>та помаранчевий кольори на підсвідомому рівні асоціюються з теплом, домашнім затишком, свіжою випічкою та хлібом, що робить їх ідеальним та найбільш природним вибором для </a:t>
            </a:r>
            <a:r>
              <a:rPr lang="uk-UA" dirty="0" err="1">
                <a:latin typeface="+mn-lt"/>
              </a:rPr>
              <a:t>Food-tech</a:t>
            </a:r>
            <a:r>
              <a:rPr lang="uk-UA" dirty="0">
                <a:latin typeface="+mn-lt"/>
              </a:rPr>
              <a:t> </a:t>
            </a:r>
            <a:r>
              <a:rPr lang="uk-UA" dirty="0" err="1" smtClean="0">
                <a:latin typeface="+mn-lt"/>
              </a:rPr>
              <a:t>проєкту</a:t>
            </a:r>
            <a:r>
              <a:rPr lang="uk-UA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283725" y="1001867"/>
            <a:ext cx="3361690" cy="318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2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Авторизація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268925" y="1672231"/>
            <a:ext cx="3076948" cy="2202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latin typeface="+mn-lt"/>
              </a:rPr>
              <a:t>Процеси входу та реєстрації в системі розділені не лише </a:t>
            </a:r>
            <a:r>
              <a:rPr lang="uk-UA" dirty="0" err="1">
                <a:latin typeface="+mn-lt"/>
              </a:rPr>
              <a:t>логічно</a:t>
            </a:r>
            <a:r>
              <a:rPr lang="uk-UA" dirty="0">
                <a:latin typeface="+mn-lt"/>
              </a:rPr>
              <a:t>, а й візуально за допомогою кольорового кодування. </a:t>
            </a:r>
            <a:endParaRPr dirty="0">
              <a:latin typeface="+mn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3238293" y="1127706"/>
            <a:ext cx="2774610" cy="329189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6012903" y="856530"/>
            <a:ext cx="2776622" cy="38342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Головна сторінка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132541" y="685800"/>
            <a:ext cx="8793367" cy="3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 err="1">
                <a:latin typeface="+mn-lt"/>
              </a:rPr>
              <a:t>В</a:t>
            </a:r>
            <a:r>
              <a:rPr lang="uk-UA" dirty="0" err="1" smtClean="0">
                <a:latin typeface="+mn-lt"/>
              </a:rPr>
              <a:t>ебклієнт</a:t>
            </a:r>
            <a:r>
              <a:rPr lang="uk-UA" dirty="0" smtClean="0">
                <a:latin typeface="+mn-lt"/>
              </a:rPr>
              <a:t> </a:t>
            </a:r>
            <a:r>
              <a:rPr lang="uk-UA" dirty="0">
                <a:latin typeface="+mn-lt"/>
              </a:rPr>
              <a:t>використовує архітектурне рішення у вигляді фіксованої бічної панелі навігації (</a:t>
            </a:r>
            <a:r>
              <a:rPr lang="uk-UA" dirty="0" err="1">
                <a:latin typeface="+mn-lt"/>
              </a:rPr>
              <a:t>Sidebar</a:t>
            </a:r>
            <a:r>
              <a:rPr lang="uk-UA" dirty="0">
                <a:latin typeface="+mn-lt"/>
              </a:rPr>
              <a:t>) </a:t>
            </a:r>
            <a:r>
              <a:rPr lang="uk-UA" dirty="0" smtClean="0">
                <a:latin typeface="+mn-lt"/>
              </a:rPr>
              <a:t>зліва </a:t>
            </a:r>
            <a:r>
              <a:rPr lang="ru-RU" dirty="0">
                <a:latin typeface="+mn-lt"/>
              </a:rPr>
              <a:t>для оптимального </a:t>
            </a:r>
            <a:r>
              <a:rPr lang="ru-RU" dirty="0" err="1">
                <a:latin typeface="+mn-lt"/>
              </a:rPr>
              <a:t>використання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широкоформатних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екранів</a:t>
            </a:r>
            <a:r>
              <a:rPr lang="ru-RU" dirty="0">
                <a:latin typeface="+mn-lt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1272194" y="1821589"/>
            <a:ext cx="6514060" cy="31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2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"/>
            <a:ext cx="8520600" cy="11981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" sz="3200" dirty="0" smtClean="0"/>
              <a:t>Інтерфейс </a:t>
            </a:r>
            <a:r>
              <a:rPr lang="uk" sz="3200" dirty="0" smtClean="0"/>
              <a:t>користувача: </a:t>
            </a:r>
            <a:r>
              <a:rPr lang="ru-RU" sz="3200" dirty="0" err="1" smtClean="0"/>
              <a:t>Спліт-екран</a:t>
            </a:r>
            <a:r>
              <a:rPr lang="ru-RU" sz="3200" dirty="0" smtClean="0"/>
              <a:t> при </a:t>
            </a:r>
            <a:r>
              <a:rPr lang="ru-RU" sz="3200" dirty="0" err="1" smtClean="0"/>
              <a:t>створенні</a:t>
            </a:r>
            <a:r>
              <a:rPr lang="ru-RU" sz="3200" dirty="0" smtClean="0"/>
              <a:t> </a:t>
            </a:r>
            <a:r>
              <a:rPr lang="ru-RU" sz="3200" dirty="0" err="1" smtClean="0"/>
              <a:t>замовлення</a:t>
            </a:r>
            <a:r>
              <a:rPr lang="ru-RU" sz="3200" dirty="0" smtClean="0"/>
              <a:t>/</a:t>
            </a:r>
            <a:r>
              <a:rPr lang="ru-RU" sz="3200" dirty="0" err="1" smtClean="0"/>
              <a:t>підписки</a:t>
            </a:r>
            <a:r>
              <a:rPr lang="ru-RU" sz="3200" dirty="0" smtClean="0"/>
              <a:t> </a:t>
            </a:r>
            <a:r>
              <a:rPr lang="uk" sz="3200" dirty="0" smtClean="0"/>
              <a:t>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311700" y="1225225"/>
            <a:ext cx="4261640" cy="251860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4481918" y="2347138"/>
            <a:ext cx="4350382" cy="25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3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699" y="1225225"/>
            <a:ext cx="2683291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 smtClean="0">
                <a:latin typeface="+mn-lt"/>
              </a:rPr>
              <a:t>Під час перегляду одноразових замовлень клієнт може повторити будь-яке з них</a:t>
            </a:r>
            <a:endParaRPr dirty="0">
              <a:latin typeface="+mn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991" y="1010274"/>
            <a:ext cx="5787924" cy="3417100"/>
          </a:xfrm>
          <a:prstGeom prst="rect">
            <a:avLst/>
          </a:prstGeom>
        </p:spPr>
      </p:pic>
      <p:sp>
        <p:nvSpPr>
          <p:cNvPr id="10" name="Google Shape;127;p22"/>
          <p:cNvSpPr txBox="1">
            <a:spLocks/>
          </p:cNvSpPr>
          <p:nvPr/>
        </p:nvSpPr>
        <p:spPr>
          <a:xfrm>
            <a:off x="268925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3200" dirty="0" err="1" smtClean="0"/>
              <a:t>Інтерфейс</a:t>
            </a:r>
            <a:r>
              <a:rPr lang="ru-RU" sz="3200" dirty="0" smtClean="0"/>
              <a:t> </a:t>
            </a:r>
            <a:r>
              <a:rPr lang="ru-RU" sz="3200" dirty="0" err="1" smtClean="0"/>
              <a:t>користувача</a:t>
            </a:r>
            <a:r>
              <a:rPr lang="ru-RU" sz="3200" dirty="0" smtClean="0"/>
              <a:t>: </a:t>
            </a:r>
            <a:r>
              <a:rPr lang="ru-RU" sz="3200" dirty="0" err="1" smtClean="0"/>
              <a:t>Сторінка</a:t>
            </a:r>
            <a:r>
              <a:rPr lang="ru-RU" sz="3200" dirty="0" smtClean="0"/>
              <a:t> </a:t>
            </a:r>
            <a:r>
              <a:rPr lang="ru-RU" sz="3200" dirty="0" err="1" smtClean="0"/>
              <a:t>історії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2406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060" y="1010274"/>
            <a:ext cx="5777938" cy="3417100"/>
          </a:xfrm>
          <a:prstGeom prst="rect">
            <a:avLst/>
          </a:prstGeom>
        </p:spPr>
      </p:pic>
      <p:sp>
        <p:nvSpPr>
          <p:cNvPr id="9" name="Google Shape;127;p22"/>
          <p:cNvSpPr txBox="1">
            <a:spLocks/>
          </p:cNvSpPr>
          <p:nvPr/>
        </p:nvSpPr>
        <p:spPr>
          <a:xfrm>
            <a:off x="268925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3200" dirty="0" err="1" smtClean="0"/>
              <a:t>Інтерфейс</a:t>
            </a:r>
            <a:r>
              <a:rPr lang="ru-RU" sz="3200" dirty="0" smtClean="0"/>
              <a:t> </a:t>
            </a:r>
            <a:r>
              <a:rPr lang="ru-RU" sz="3200" dirty="0" err="1" smtClean="0"/>
              <a:t>користувача</a:t>
            </a:r>
            <a:r>
              <a:rPr lang="ru-RU" sz="3200" dirty="0" smtClean="0"/>
              <a:t>: </a:t>
            </a:r>
            <a:r>
              <a:rPr lang="ru-RU" sz="3200" dirty="0" err="1" smtClean="0"/>
              <a:t>Сторінка</a:t>
            </a:r>
            <a:r>
              <a:rPr lang="ru-RU" sz="3200" dirty="0" smtClean="0"/>
              <a:t> </a:t>
            </a:r>
            <a:r>
              <a:rPr lang="ru-RU" sz="3200" dirty="0" err="1" smtClean="0"/>
              <a:t>історії</a:t>
            </a:r>
            <a:endParaRPr lang="ru-RU" sz="3200" dirty="0"/>
          </a:p>
        </p:txBody>
      </p:sp>
      <p:sp>
        <p:nvSpPr>
          <p:cNvPr id="10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283536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 smtClean="0">
                <a:latin typeface="+mn-lt"/>
              </a:rPr>
              <a:t>Під час перегляду підписок клієнт може зупинити або скасувати будь-яку з них чи додати нові товари (одноразово/назавжди)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000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20</a:t>
            </a:fld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204" y="1037851"/>
            <a:ext cx="5697036" cy="3361946"/>
          </a:xfrm>
          <a:prstGeom prst="rect">
            <a:avLst/>
          </a:prstGeom>
        </p:spPr>
      </p:pic>
      <p:sp>
        <p:nvSpPr>
          <p:cNvPr id="9" name="Google Shape;127;p22"/>
          <p:cNvSpPr txBox="1">
            <a:spLocks/>
          </p:cNvSpPr>
          <p:nvPr/>
        </p:nvSpPr>
        <p:spPr>
          <a:xfrm>
            <a:off x="268925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3200" dirty="0" err="1" smtClean="0"/>
              <a:t>Інтерфейс</a:t>
            </a:r>
            <a:r>
              <a:rPr lang="ru-RU" sz="3200" dirty="0" smtClean="0"/>
              <a:t> </a:t>
            </a:r>
            <a:r>
              <a:rPr lang="ru-RU" sz="3200" dirty="0" err="1" smtClean="0"/>
              <a:t>користувача</a:t>
            </a:r>
            <a:r>
              <a:rPr lang="ru-RU" sz="3200" dirty="0" smtClean="0"/>
              <a:t>: </a:t>
            </a:r>
            <a:r>
              <a:rPr lang="ru-RU" sz="3200" dirty="0" err="1" smtClean="0"/>
              <a:t>Сторінка</a:t>
            </a:r>
            <a:r>
              <a:rPr lang="ru-RU" sz="3200" dirty="0" smtClean="0"/>
              <a:t> </a:t>
            </a:r>
            <a:r>
              <a:rPr lang="ru-RU" sz="3200" dirty="0" err="1" smtClean="0"/>
              <a:t>історії</a:t>
            </a:r>
            <a:endParaRPr lang="ru-RU" sz="3200" dirty="0"/>
          </a:p>
        </p:txBody>
      </p:sp>
      <p:sp>
        <p:nvSpPr>
          <p:cNvPr id="11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259152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 err="1" smtClean="0">
                <a:latin typeface="+mn-lt"/>
              </a:rPr>
              <a:t>Згенеровані</a:t>
            </a:r>
            <a:r>
              <a:rPr lang="uk-UA" dirty="0" smtClean="0">
                <a:latin typeface="+mn-lt"/>
              </a:rPr>
              <a:t> замовлення за підпискою клієнт може лише переглядати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49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240577"/>
            <a:ext cx="4330784" cy="16190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</a:t>
            </a:r>
            <a:br>
              <a:rPr lang="uk" sz="3200" dirty="0" smtClean="0"/>
            </a:br>
            <a:r>
              <a:rPr lang="uk-UA" sz="3200" dirty="0" smtClean="0"/>
              <a:t>Сторінка замовлень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21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4400078" y="240576"/>
            <a:ext cx="2201636" cy="454908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6616146" y="240576"/>
            <a:ext cx="2216154" cy="4549080"/>
          </a:xfrm>
          <a:prstGeom prst="rect">
            <a:avLst/>
          </a:prstGeom>
        </p:spPr>
      </p:pic>
      <p:sp>
        <p:nvSpPr>
          <p:cNvPr id="8" name="Google Shape;128;p22"/>
          <p:cNvSpPr txBox="1">
            <a:spLocks/>
          </p:cNvSpPr>
          <p:nvPr/>
        </p:nvSpPr>
        <p:spPr>
          <a:xfrm>
            <a:off x="311700" y="1935481"/>
            <a:ext cx="4117784" cy="2567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>
                <a:latin typeface="+mn-lt"/>
              </a:rPr>
              <a:t>М</a:t>
            </a:r>
            <a:r>
              <a:rPr lang="uk-UA" dirty="0" smtClean="0">
                <a:latin typeface="+mn-lt"/>
              </a:rPr>
              <a:t>обільне </a:t>
            </a:r>
            <a:r>
              <a:rPr lang="uk-UA" dirty="0">
                <a:latin typeface="+mn-lt"/>
              </a:rPr>
              <a:t>меню адаптується під роль користувача на основі </a:t>
            </a:r>
            <a:r>
              <a:rPr lang="uk-UA" dirty="0" err="1">
                <a:latin typeface="+mn-lt"/>
              </a:rPr>
              <a:t>токена</a:t>
            </a:r>
            <a:r>
              <a:rPr lang="uk-UA" dirty="0">
                <a:latin typeface="+mn-lt"/>
              </a:rPr>
              <a:t> авторизації: працівник складу бачить жовту тему </a:t>
            </a:r>
            <a:r>
              <a:rPr lang="uk-UA" dirty="0" smtClean="0">
                <a:latin typeface="+mn-lt"/>
              </a:rPr>
              <a:t>з іконками </a:t>
            </a:r>
            <a:r>
              <a:rPr lang="uk-UA" dirty="0">
                <a:latin typeface="+mn-lt"/>
              </a:rPr>
              <a:t>коробок, тоді як кур’єр взаємодіє з помаранчевим інтерфейсом та логістичними маркерами у вигляді вантажівок</a:t>
            </a:r>
            <a:endParaRPr lang="uk-UA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454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240576"/>
            <a:ext cx="4330784" cy="21146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</a:t>
            </a:r>
            <a:br>
              <a:rPr lang="uk" sz="3200" dirty="0" smtClean="0"/>
            </a:br>
            <a:r>
              <a:rPr lang="uk-UA" sz="3200" dirty="0" smtClean="0"/>
              <a:t>Сторінка деталей замовлень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2355273"/>
            <a:ext cx="4117784" cy="2223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 smtClean="0">
                <a:latin typeface="+mn-lt"/>
              </a:rPr>
              <a:t>Сторінка містить єдину </a:t>
            </a:r>
            <a:r>
              <a:rPr lang="ru-RU" dirty="0" err="1" smtClean="0">
                <a:latin typeface="+mn-lt"/>
              </a:rPr>
              <a:t>динамічну</a:t>
            </a:r>
            <a:r>
              <a:rPr lang="ru-RU" dirty="0" smtClean="0">
                <a:latin typeface="+mn-lt"/>
              </a:rPr>
              <a:t> кнопку </a:t>
            </a:r>
            <a:r>
              <a:rPr lang="ru-RU" dirty="0" err="1">
                <a:latin typeface="+mn-lt"/>
              </a:rPr>
              <a:t>дій</a:t>
            </a:r>
            <a:r>
              <a:rPr lang="ru-RU" dirty="0">
                <a:latin typeface="+mn-lt"/>
              </a:rPr>
              <a:t> у </a:t>
            </a:r>
            <a:r>
              <a:rPr lang="ru-RU" dirty="0" err="1">
                <a:latin typeface="+mn-lt"/>
              </a:rPr>
              <a:t>мобільному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додатку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змінює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логіку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статусу </a:t>
            </a:r>
            <a:r>
              <a:rPr lang="ru-RU" dirty="0" err="1" smtClean="0">
                <a:latin typeface="+mn-lt"/>
              </a:rPr>
              <a:t>замовлення</a:t>
            </a:r>
            <a:r>
              <a:rPr lang="ru-RU" dirty="0" smtClean="0">
                <a:latin typeface="+mn-lt"/>
              </a:rPr>
              <a:t> та </a:t>
            </a:r>
            <a:r>
              <a:rPr lang="ru-RU" dirty="0" err="1" smtClean="0">
                <a:latin typeface="+mn-lt"/>
              </a:rPr>
              <a:t>ролі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користувача</a:t>
            </a:r>
            <a:r>
              <a:rPr lang="ru-RU" dirty="0" smtClean="0">
                <a:latin typeface="+mn-lt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22</a:t>
            </a:fld>
            <a:endParaRPr lang="uk-UA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83544" y="240579"/>
            <a:ext cx="2119228" cy="4549078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5"/>
          <a:srcRect l="2509" r="1872"/>
          <a:stretch/>
        </p:blipFill>
        <p:spPr bwMode="auto">
          <a:xfrm>
            <a:off x="6656832" y="240577"/>
            <a:ext cx="2121408" cy="4549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180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"/>
            <a:ext cx="8520600" cy="1225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Сторінка повідомлень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23</a:t>
            </a:fld>
            <a:endParaRPr lang="uk-UA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4"/>
          <a:srcRect r="1472"/>
          <a:stretch/>
        </p:blipFill>
        <p:spPr bwMode="auto">
          <a:xfrm>
            <a:off x="268925" y="1225224"/>
            <a:ext cx="2722070" cy="30130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166" y="1643581"/>
            <a:ext cx="5742134" cy="21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3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"/>
            <a:ext cx="8520600" cy="1225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</a:t>
            </a:r>
            <a:r>
              <a:rPr lang="uk" sz="3200" dirty="0" smtClean="0"/>
              <a:t>користувача: Сторінка профілю користувача</a:t>
            </a:r>
            <a:endParaRPr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53" y="731988"/>
            <a:ext cx="2048562" cy="2430312"/>
          </a:xfrm>
          <a:prstGeom prst="rect">
            <a:avLst/>
          </a:prstGeom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24</a:t>
            </a:fld>
            <a:endParaRPr lang="uk-UA" dirty="0"/>
          </a:p>
        </p:txBody>
      </p:sp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311700" y="1225224"/>
            <a:ext cx="4938124" cy="306237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6"/>
          <a:srcRect l="-1" r="1717"/>
          <a:stretch/>
        </p:blipFill>
        <p:spPr>
          <a:xfrm>
            <a:off x="6739545" y="2460898"/>
            <a:ext cx="2049980" cy="245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0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25</a:t>
            </a:fld>
            <a:endParaRPr lang="uk-UA" dirty="0"/>
          </a:p>
        </p:txBody>
      </p:sp>
      <p:sp>
        <p:nvSpPr>
          <p:cNvPr id="7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313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ru-RU" dirty="0">
                <a:latin typeface="+mn-lt"/>
              </a:rPr>
              <a:t>У </a:t>
            </a:r>
            <a:r>
              <a:rPr lang="ru-RU" dirty="0" err="1">
                <a:latin typeface="+mn-lt"/>
              </a:rPr>
              <a:t>результаті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створено </a:t>
            </a:r>
            <a:r>
              <a:rPr lang="ru-RU" dirty="0" err="1">
                <a:latin typeface="+mn-lt"/>
              </a:rPr>
              <a:t>повноцінний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працездатний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програмний</a:t>
            </a:r>
            <a:r>
              <a:rPr lang="ru-RU" dirty="0">
                <a:latin typeface="+mn-lt"/>
              </a:rPr>
              <a:t> продукт (MVP), </a:t>
            </a:r>
            <a:r>
              <a:rPr lang="ru-RU" dirty="0" err="1">
                <a:latin typeface="+mn-lt"/>
              </a:rPr>
              <a:t>який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успішно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вирішує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поставлені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задачі</a:t>
            </a:r>
            <a:r>
              <a:rPr lang="uk-UA" dirty="0">
                <a:latin typeface="+mn-lt"/>
              </a:rPr>
              <a:t> </a:t>
            </a:r>
            <a:r>
              <a:rPr lang="uk-UA" dirty="0" smtClean="0">
                <a:latin typeface="+mn-lt"/>
              </a:rPr>
              <a:t>управління одноразовими замовленнями,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автоматизації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рутинних</a:t>
            </a:r>
            <a:r>
              <a:rPr lang="ru-RU" dirty="0">
                <a:latin typeface="+mn-lt"/>
              </a:rPr>
              <a:t> покупок та </a:t>
            </a:r>
            <a:r>
              <a:rPr lang="ru-RU" dirty="0" err="1">
                <a:latin typeface="+mn-lt"/>
              </a:rPr>
              <a:t>логістики</a:t>
            </a:r>
            <a:r>
              <a:rPr lang="ru-RU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03860" y="2217420"/>
            <a:ext cx="3619500" cy="195834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16280" y="242316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smtClean="0"/>
              <a:t>Можливості використання</a:t>
            </a:r>
            <a:endParaRPr lang="ru-RU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716280" y="2998232"/>
            <a:ext cx="3116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Dark-stores</a:t>
            </a:r>
            <a:r>
              <a:rPr lang="ru-RU" dirty="0"/>
              <a:t> та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smtClean="0"/>
              <a:t>доставки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B2B </a:t>
            </a:r>
            <a:r>
              <a:rPr lang="ru-RU" dirty="0" err="1"/>
              <a:t>SaaS</a:t>
            </a:r>
            <a:r>
              <a:rPr lang="ru-RU" dirty="0"/>
              <a:t>-платформа для </a:t>
            </a:r>
            <a:r>
              <a:rPr lang="ru-RU" dirty="0" smtClean="0"/>
              <a:t>ритейлу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335780" y="2226960"/>
            <a:ext cx="4442460" cy="195834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4648200" y="2432700"/>
            <a:ext cx="381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 smtClean="0"/>
              <a:t>Можливий розвиток</a:t>
            </a:r>
            <a:endParaRPr lang="ru-RU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4648200" y="2856904"/>
            <a:ext cx="38176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Інтеграція</a:t>
            </a:r>
            <a:r>
              <a:rPr lang="ru-RU" dirty="0"/>
              <a:t> </a:t>
            </a:r>
            <a:r>
              <a:rPr lang="ru-RU" dirty="0" err="1"/>
              <a:t>реальних</a:t>
            </a:r>
            <a:r>
              <a:rPr lang="ru-RU" dirty="0"/>
              <a:t> </a:t>
            </a:r>
            <a:r>
              <a:rPr lang="ru-RU" dirty="0" err="1"/>
              <a:t>платіжних</a:t>
            </a:r>
            <a:r>
              <a:rPr lang="ru-RU" dirty="0"/>
              <a:t> </a:t>
            </a:r>
            <a:r>
              <a:rPr lang="ru-RU" dirty="0" smtClean="0"/>
              <a:t>систем (</a:t>
            </a:r>
            <a:r>
              <a:rPr lang="en-US" dirty="0" err="1" smtClean="0"/>
              <a:t>LiqPay</a:t>
            </a:r>
            <a:r>
              <a:rPr lang="en-US" dirty="0" smtClean="0"/>
              <a:t>/Stripe</a:t>
            </a:r>
            <a:r>
              <a:rPr lang="uk-UA" dirty="0" smtClean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Маршрутизація</a:t>
            </a:r>
            <a:r>
              <a:rPr lang="ru-RU" dirty="0"/>
              <a:t> </a:t>
            </a:r>
            <a:r>
              <a:rPr lang="en-US" dirty="0"/>
              <a:t>Google Maps </a:t>
            </a:r>
            <a:r>
              <a:rPr lang="en-US" dirty="0" smtClean="0"/>
              <a:t>API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Панель </a:t>
            </a:r>
            <a:r>
              <a:rPr lang="ru-RU" dirty="0" err="1"/>
              <a:t>адміністрування</a:t>
            </a:r>
            <a:r>
              <a:rPr lang="ru-RU" dirty="0"/>
              <a:t> та </a:t>
            </a:r>
            <a:r>
              <a:rPr lang="ru-RU" dirty="0" err="1"/>
              <a:t>аналітики</a:t>
            </a:r>
            <a:r>
              <a:rPr lang="ru-RU" dirty="0"/>
              <a:t> </a:t>
            </a:r>
            <a:r>
              <a:rPr lang="ru-RU" dirty="0" err="1"/>
              <a:t>продажів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2026_Б_ПІ_ПЗПІ-23-9_Нікітіна_О_В</Template>
  <TotalTime>346</TotalTime>
  <Words>1046</Words>
  <Application>Microsoft Office PowerPoint</Application>
  <PresentationFormat>Экран (16:9)</PresentationFormat>
  <Paragraphs>142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Economica</vt:lpstr>
      <vt:lpstr>Times New Roman</vt:lpstr>
      <vt:lpstr>Arial</vt:lpstr>
      <vt:lpstr>Open Sans</vt:lpstr>
      <vt:lpstr>Calibri</vt:lpstr>
      <vt:lpstr>Шаблон презентації кваліфікаційної роботи магістрів</vt:lpstr>
      <vt:lpstr>Програмна система для управління замовленнями товарів з підтримкою підписок на регулярні поставки</vt:lpstr>
      <vt:lpstr>Актуальність роботи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UML діаграма прецедентів</vt:lpstr>
      <vt:lpstr>Структура бази даних</vt:lpstr>
      <vt:lpstr>Приклад реалізації: Автоматична генерація замовлень за підпискою</vt:lpstr>
      <vt:lpstr>Приклад реалізації: Алгоритм створення замовлення</vt:lpstr>
      <vt:lpstr>UML діаграма станів</vt:lpstr>
      <vt:lpstr>Приклад реалізації: Логіка переходів станів замовлення</vt:lpstr>
      <vt:lpstr>Дизайн системи</vt:lpstr>
      <vt:lpstr>Інтерфейс користувача: Авторизація </vt:lpstr>
      <vt:lpstr>Інтерфейс користувача: Головна сторінка </vt:lpstr>
      <vt:lpstr>Інтерфейс користувача: Спліт-екран при створенні замовлення/підписки  </vt:lpstr>
      <vt:lpstr>Презентация PowerPoint</vt:lpstr>
      <vt:lpstr>Презентация PowerPoint</vt:lpstr>
      <vt:lpstr>Презентация PowerPoint</vt:lpstr>
      <vt:lpstr>Інтерфейс користувача:  Сторінка замовлень</vt:lpstr>
      <vt:lpstr>Інтерфейс користувача:  Сторінка деталей замовлень</vt:lpstr>
      <vt:lpstr>Інтерфейс користувача: Сторінка повідомлень</vt:lpstr>
      <vt:lpstr>Інтерфейс користувача: Сторінка профілю користувача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для управління замовленнями товарів з підтримкою підписок на регулярні поставки</dc:title>
  <dc:creator>Niksaaa</dc:creator>
  <cp:lastModifiedBy>Niksaaa</cp:lastModifiedBy>
  <cp:revision>25</cp:revision>
  <dcterms:created xsi:type="dcterms:W3CDTF">2026-05-29T09:00:50Z</dcterms:created>
  <dcterms:modified xsi:type="dcterms:W3CDTF">2026-05-29T14:47:05Z</dcterms:modified>
</cp:coreProperties>
</file>